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0ff9326484222" /><Relationship Type="http://schemas.openxmlformats.org/officeDocument/2006/relationships/extended-properties" Target="/docProps/app.xml" Id="R0817730b5cc74d80" /><Relationship Type="http://schemas.openxmlformats.org/officeDocument/2006/relationships/officeDocument" Target="/ppt/presentation.xml" Id="R14594fb833ec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82068afd114b4d"/>
  </p:sldMasterIdLst>
  <p:notesMasterIdLst>
    <p:notesMasterId xmlns:r="http://schemas.openxmlformats.org/officeDocument/2006/relationships" r:id="R3bdae800be71453d"/>
  </p:notesMasterIdLst>
  <p:sldIdLst>
    <p:sldId xmlns:r="http://schemas.openxmlformats.org/officeDocument/2006/relationships" id="256" r:id="R51797f88f84f4e7d"/>
    <p:sldId xmlns:r="http://schemas.openxmlformats.org/officeDocument/2006/relationships" id="257" r:id="R98260d317a4e4199"/>
    <p:sldId xmlns:r="http://schemas.openxmlformats.org/officeDocument/2006/relationships" id="258" r:id="R62f6960f95a14cfc"/>
    <p:sldId xmlns:r="http://schemas.openxmlformats.org/officeDocument/2006/relationships" id="259" r:id="Rc6adfb01235e4792"/>
    <p:sldId xmlns:r="http://schemas.openxmlformats.org/officeDocument/2006/relationships" id="260" r:id="Rcf3f412a0982484b"/>
    <p:sldId xmlns:r="http://schemas.openxmlformats.org/officeDocument/2006/relationships" id="261" r:id="R266e1f007a68408e"/>
    <p:sldId xmlns:r="http://schemas.openxmlformats.org/officeDocument/2006/relationships" id="262" r:id="R2bfc036a0574499a"/>
    <p:sldId xmlns:r="http://schemas.openxmlformats.org/officeDocument/2006/relationships" id="263" r:id="R4fcb82c4b00643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2068afd114b4d" /><Relationship Type="http://schemas.openxmlformats.org/officeDocument/2006/relationships/theme" Target="/ppt/theme/theme1.xml" Id="Rccf9fc36e33548cb" /><Relationship Type="http://schemas.openxmlformats.org/officeDocument/2006/relationships/notesMaster" Target="/ppt/notesMasters/notesMaster1.xml" Id="R3bdae800be71453d" /><Relationship Type="http://schemas.openxmlformats.org/officeDocument/2006/relationships/presProps" Target="/ppt/presProps.xml" Id="R45b755688de74a95" /><Relationship Type="http://schemas.openxmlformats.org/officeDocument/2006/relationships/viewProps" Target="/ppt/viewProps.xml" Id="R6cb8f9309c0b47b2" /><Relationship Type="http://schemas.openxmlformats.org/officeDocument/2006/relationships/tableStyles" Target="/ppt/tableStyles.xml" Id="Rf2558d98368b4524" /><Relationship Type="http://schemas.openxmlformats.org/officeDocument/2006/relationships/slide" Target="/ppt/slides/slide1.xml" Id="R51797f88f84f4e7d" /><Relationship Type="http://schemas.openxmlformats.org/officeDocument/2006/relationships/slide" Target="/ppt/slides/slide2.xml" Id="R98260d317a4e4199" /><Relationship Type="http://schemas.openxmlformats.org/officeDocument/2006/relationships/slide" Target="/ppt/slides/slide3.xml" Id="R62f6960f95a14cfc" /><Relationship Type="http://schemas.openxmlformats.org/officeDocument/2006/relationships/slide" Target="/ppt/slides/slide4.xml" Id="Rc6adfb01235e4792" /><Relationship Type="http://schemas.openxmlformats.org/officeDocument/2006/relationships/slide" Target="/ppt/slides/slide5.xml" Id="Rcf3f412a0982484b" /><Relationship Type="http://schemas.openxmlformats.org/officeDocument/2006/relationships/slide" Target="/ppt/slides/slide6.xml" Id="R266e1f007a68408e" /><Relationship Type="http://schemas.openxmlformats.org/officeDocument/2006/relationships/slide" Target="/ppt/slides/slide7.xml" Id="R2bfc036a0574499a" /><Relationship Type="http://schemas.openxmlformats.org/officeDocument/2006/relationships/slide" Target="/ppt/slides/slide8.xml" Id="R4fcb82c4b006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2e0ccc24ea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1e260276e413a" /><Relationship Type="http://schemas.openxmlformats.org/officeDocument/2006/relationships/notesMaster" Target="/ppt/notesMasters/notesMaster1.xml" Id="Rd53ea758476e41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680b1c1cb472f" /><Relationship Type="http://schemas.openxmlformats.org/officeDocument/2006/relationships/notesMaster" Target="/ppt/notesMasters/notesMaster1.xml" Id="R7a5de9a89421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1ed1a989544db" /><Relationship Type="http://schemas.openxmlformats.org/officeDocument/2006/relationships/notesMaster" Target="/ppt/notesMasters/notesMaster1.xml" Id="R1a32c3a2749342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45a4d31359418b" /><Relationship Type="http://schemas.openxmlformats.org/officeDocument/2006/relationships/notesMaster" Target="/ppt/notesMasters/notesMaster1.xml" Id="R46cef4ab030d44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8a133d561f462f" /><Relationship Type="http://schemas.openxmlformats.org/officeDocument/2006/relationships/notesMaster" Target="/ppt/notesMasters/notesMaster1.xml" Id="R1bc83008356a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58d660d1e4559" /><Relationship Type="http://schemas.openxmlformats.org/officeDocument/2006/relationships/notesMaster" Target="/ppt/notesMasters/notesMaster1.xml" Id="Rd7969e47cb9345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754ed5f524562" /><Relationship Type="http://schemas.openxmlformats.org/officeDocument/2006/relationships/notesMaster" Target="/ppt/notesMasters/notesMaster1.xml" Id="R577b466154854a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0803703d59408f" /><Relationship Type="http://schemas.openxmlformats.org/officeDocument/2006/relationships/notesMaster" Target="/ppt/notesMasters/notesMaster1.xml" Id="Rf7a84849b18748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10810c90943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3438dc51df49c3" /><Relationship Type="http://schemas.openxmlformats.org/officeDocument/2006/relationships/slideLayout" Target="/ppt/slideLayouts/slideLayout2.xml" Id="R7cabf5bf6dab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bf5bf6dab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7af005274f4d4d" /><Relationship Type="http://schemas.openxmlformats.org/officeDocument/2006/relationships/image" Target="/ppt/media/image.jpeg" Id="Ra589741e44544cef" /><Relationship Type="http://schemas.openxmlformats.org/officeDocument/2006/relationships/notesSlide" Target="/ppt/notesSlides/notesSlide1.xml" Id="Re2075c0710d2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fb44de0ea649eb" /><Relationship Type="http://schemas.openxmlformats.org/officeDocument/2006/relationships/notesSlide" Target="/ppt/notesSlides/notesSlide2.xml" Id="Rca72abd852ba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946db7e03b41a7" /><Relationship Type="http://schemas.openxmlformats.org/officeDocument/2006/relationships/image" Target="/ppt/media/image2.jpeg" Id="Rcde44d09a185448e" /><Relationship Type="http://schemas.openxmlformats.org/officeDocument/2006/relationships/image" Target="/ppt/media/image3.jpeg" Id="Re072aaf8d4614897" /><Relationship Type="http://schemas.openxmlformats.org/officeDocument/2006/relationships/notesSlide" Target="/ppt/notesSlides/notesSlide3.xml" Id="R42b957079da4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fd9d2f33e4907" /><Relationship Type="http://schemas.openxmlformats.org/officeDocument/2006/relationships/image" Target="/ppt/media/image4.jpeg" Id="Rb9c5886f9cbd414a" /><Relationship Type="http://schemas.openxmlformats.org/officeDocument/2006/relationships/image" Target="/ppt/media/image5.jpeg" Id="Rfb08e8d6cd63467b" /><Relationship Type="http://schemas.openxmlformats.org/officeDocument/2006/relationships/image" Target="/ppt/media/image6.jpeg" Id="R7353c2f25be14bf3" /><Relationship Type="http://schemas.openxmlformats.org/officeDocument/2006/relationships/notesSlide" Target="/ppt/notesSlides/notesSlide4.xml" Id="R3e666322b12241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dcf35dc9eb427e" /><Relationship Type="http://schemas.openxmlformats.org/officeDocument/2006/relationships/notesSlide" Target="/ppt/notesSlides/notesSlide5.xml" Id="R209d0b1e97bc46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28a90c318d40ab" /><Relationship Type="http://schemas.openxmlformats.org/officeDocument/2006/relationships/notesSlide" Target="/ppt/notesSlides/notesSlide6.xml" Id="Rcccf1f7f7c9d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f26fd67624542" /><Relationship Type="http://schemas.openxmlformats.org/officeDocument/2006/relationships/image" Target="/ppt/media/image7.jpeg" Id="R828e4cb80e704389" /><Relationship Type="http://schemas.openxmlformats.org/officeDocument/2006/relationships/notesSlide" Target="/ppt/notesSlides/notesSlide7.xml" Id="R71440458d2cb44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b19300ae6e4450" /><Relationship Type="http://schemas.openxmlformats.org/officeDocument/2006/relationships/notesSlide" Target="/ppt/notesSlides/notesSlide8.xml" Id="Rda033ebe6f944e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82CA9-5AEB-4054-AE42-7CF2FAB2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17F6-8973-4643-AD30-08E9DE5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BDB81-45A3-46F8-83E6-DE01E720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B64F6-9A70-4544-907F-D86D19FA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B190C-2257-4A35-A65B-31ACA4C2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71E3F-1E8D-472A-A47C-2735B450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7F2F1-832A-483F-AEE2-37BF4D5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D4DDC-6687-46A3-8CC4-57785DF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DAAF1-2D7B-44BF-871B-69D13AC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5A67B-6E05-4A8C-813C-32B3402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98594-5D22-47EA-B31A-C196F0D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57994-BC95-4C19-B596-470FDB2C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44D3-EF28-4A86-A65E-327EA24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DC584-CFB6-4B4A-94DD-884FD6AB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BDB58-672A-40ED-A6E3-76BAF918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859D0-CA7B-473D-9DBF-D74AB800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07721-8E6C-46F6-B638-66029FC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9E0F7-BC4B-4A09-9278-530CC0D1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BAED3-7868-4DE6-890B-4AC4210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2B2F9-4E5F-4316-8647-A9B20AE0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A31D0-4EB8-469A-B2A2-D9F55DD8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98626-AC72-4293-ACF4-7931BBEC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945B2-AED0-4084-B455-8A6FADA4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8F0CC-9528-4742-902C-1AF2B6A5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0D122-49A9-4152-9CBD-0DCDBD7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22B7C-118B-4FD6-91D4-FE78C63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FA08A-ABBA-47AA-A800-A8B9761C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73148-F427-4513-8DA2-8D1EA33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37306-1273-48F4-94CD-6D6C2F4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B9442-B1BA-4657-B675-E7393125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1B563-5058-4205-915F-D4D8CF30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572A8-D93D-40F6-ACDC-C65A2983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3F489-BF6E-449C-AADB-6CEA90A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16C580-3C3D-4933-84A5-4E68E5B2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34C674-69A2-41E7-8329-FF289C33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6EA3B7-92DB-41E9-ACC0-B5CEA3C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25C8B8-3276-45F0-BAD2-C23D9FE0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380A5-39D2-46CE-B002-B4B89B0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6C5D5B-3E96-4884-88B6-DE68232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FA9E6-CB94-43B5-B38B-E279920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8B294A-B6A7-42A0-9EBC-1928D61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746C8A-EB08-438C-B372-9BE85BB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FF98E4-0FC5-4DD8-B4E0-EA283AD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F83CB5-7061-49A6-A54B-F0F980A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24FB7A-F839-4A69-BF34-C847114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65D587-8941-4871-A911-069BC486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C7747B-A0DA-4D1B-804A-6EFCB75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3621B4-DD20-4469-BBAE-C95422DC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7E6E38-F9F5-4497-B744-136FEAA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D848DB-46AD-4007-B6D3-1E6F271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0ED1DC-05E3-4C45-A747-A7FF9C5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3B4607-EAEF-4814-A33E-903B17E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5E8841-07E1-4F54-8E2E-3A04EB33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AFC0CC-7ACE-4939-AD88-8D59F0E4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71D813-2F5F-4084-9C69-361709FB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44D03B-DA82-479D-81CB-870927C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069815-F7E9-4110-AA90-71F7E908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274D9A-01A3-4C64-90C9-11243B3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0351E-D804-4E5E-BD4F-CC6603DF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A2CB21-0CB5-4FEC-A2F0-9A6A3D4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E4D0B8-1A53-4CA2-93A7-2B6794D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3EE29B-9310-49E5-810A-228DA847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9CEEF1-F3A4-4D5D-91C3-500D17D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4BC049-AAD6-4DC2-943E-61FA2FDA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5289B3-28E6-4A34-BE0F-F3099963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3E577A-A43D-4557-8142-8D3DCC6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1F2E3A-BA81-4B21-B16F-1F12382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C900DB-ADA3-40D0-945A-0018D91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EEFE09-4705-4B61-A498-149A9EA0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60C090-36D5-475F-A227-844891FB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B36C30-20CD-4EA0-9C47-8C91351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7B4801-AAE9-4B66-B483-353BDBA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FC7941-7BB0-4DC9-B874-0502421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62AB28-0E93-4E31-BFC2-355DEA5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2857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AB2875-78BE-4A33-8011-4278966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717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24DF4E-FF25-4D9A-85CD-C95A4BB0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145388-39B2-4F70-A14E-20B3B05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FIELD GUIDE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112596-070A-4144-895D-A4E25AD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533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The solar system is a family held together by one star.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45A3EB-69FC-4FC7-A132-21E8632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A compact tour of the Sun, eight planets, dwarf planets, belts, moons, and the frontier where sunlight becomes a very slow clock.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9741e44544cef"/>
          <a:srcRect xmlns:a="http://schemas.openxmlformats.org/drawingml/2006/main" l="9293" t="0" r="92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90550"/>
            <a:ext cx="5238750" cy="361950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528043-5C83-40FF-BB96-D9C365C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"/>
            <a:ext cx="5314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10E6A17-370D-47F8-9D7B-C32DA8D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88457E-C82E-43F8-8A28-906FC502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2D6B73-3F2B-482C-ABC7-883BC11C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STAR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A19894-420D-4BEE-A676-4997D749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48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DAEBCD7-E3F9-4468-BAC4-5E7C83C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736949C-EE03-4939-8FB2-25EEAFE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10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PLANETS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53EE30-F385-4C68-AF9F-83112EE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88069EB-D68A-41B4-83A4-987EE8F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FB7B9F-3562-4A23-AC1A-C1716C4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102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OFFICIAL DWARF PLANETS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61BE74-B981-4398-9537-4BBA4516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4533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Sun -&gt; rocky worlds -&gt; asteroid belt -&gt; giant planets -&gt; Kuiper Belt -&gt; Oort Cloud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8C16C2-7E0E-44C8-9A34-E066EFD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83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Not to scale. The real system is mostly distance.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895670-18EA-45BD-827E-C64899E4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AFA5A5-5E1B-40E6-B643-39CCCA39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About the Planets; NASA Solar System Facts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AA4A709-60F5-4D0E-8E22-9277F5FD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9834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9D2DC-CDD7-48D0-B298-32DD86DF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69F60-CAFA-4826-9249-09DEF736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594C2-7E68-4B10-92C9-A186CF0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419F7-BFD7-4377-AEDD-9BC52AF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48922-987A-45E0-BB19-1C58F763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B60C2-9F44-4D63-BFAB-1C399909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32A2-2704-4EC3-82F2-76512B00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0F3B1-9FD3-41A6-86E3-5FC60DC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FEE8-B74A-463B-BF04-9C6D176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C79C6-87ED-4D4B-8D92-6FF2C482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98E45-1CEB-4BED-B6E9-69175E1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4A0A8-6326-4494-98FD-7E91AD2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623F9-F74B-41EF-80A0-BF23DB77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4BCA1-3AA0-4B32-A731-BA73192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66024-6B2D-4D3D-9B7E-B4DC736C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A2B70-D6CD-46F2-99AB-BEDAD9D3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482C5-266C-495F-A133-5311930A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97CD1-D497-4A2A-9801-A6A3CE0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94603-843B-4829-BD7B-0CE7FD4F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8FEED-0A52-44C4-953E-21CFC95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34F72-7E6F-4A73-A155-72DB4A7D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897B9-09E1-4A6A-BF18-EE919C5E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8AE19-F95F-42C6-AF6B-8EC7467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2B53F-91BF-49C8-955E-5A96F218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92F55-F6C1-4DDB-82C7-BEB4E69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3B155-30BC-403B-997B-74813D8B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53D9D-31B9-41B5-A38F-9C2028ED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906EBB-390C-43FC-90F8-878F26A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9B644E-98C7-404F-AF4B-79589600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66CEB-39DF-450D-878A-BDA8B3D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FC738-745F-4F7E-95BF-CAFAC2E4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CFFABB-ADB4-4142-B6DC-A08F52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23F88C-B815-4AFF-9836-C44BE093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4298F-295F-46A1-AC5A-6BC26045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BD7FD-48D3-45A3-B1E3-F6980141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62D326-576A-41F7-9C71-9E70B57A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A93C3D-C587-4AED-B935-D0C9B8DF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7C84C5-7B5D-4CA2-85C2-33AAA160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58EEDC-65D8-44C5-A793-42B2922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DD172B-D09E-48BA-970A-1695C57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234338-FC03-4E10-AF59-F4CD13B0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64F237-756F-4827-8725-BBBF1131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048935-A6D6-49D8-8737-2685A09A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81978B-8040-45AA-B973-D0E8E17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5837B-565F-4D9B-BEA3-0EBB58B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615FBB-E3E5-4607-B7E5-0E4A823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42DCB0-8088-429D-8AD8-85AA4B7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1C8793-5635-4871-A4AB-362D3FE9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F2FBD0-0498-4ACA-86F6-561627CB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C58F9D-5598-4D5E-8001-03DD0CC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F3B421-282E-4611-968B-669B4BC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17FB12-6745-4705-833B-1FB1C960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701C96-10F8-42F8-9E7F-5EF19A52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65B127-1320-485A-A8D1-B74DE3C1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D7BDB2-9BDE-45B8-BE61-ABC5D4F6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4A596F-215B-4D29-88C3-3D07629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18731C-6986-4D07-9C7F-54E9C77D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78D31-5ED8-4E7F-B8C6-CF235386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74850F-C772-4A02-9143-BC67CA4D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657945-6C25-4371-86F6-1A487443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41EF2A-C895-4769-8629-737750E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80CDCE-B33D-4CCD-B145-108EF7CB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9C19C5-A5E3-48E2-85AE-F99A44CE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6491D6-0E6E-4FDF-B83B-2AE59136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8C5C23-9026-4983-B6E2-86D7B76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AF5F65-7EEE-4DBD-9603-5BE482E6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07A9B4-EC84-452E-B099-A122C465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E8F03F-6043-4A35-A339-CD1B039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FE4FFD-6223-4490-B3A0-1BB5B47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FC8038-FE3B-40B3-86B8-A361F141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A64F54-9B40-48F8-95BD-00C82009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89ED6D-123D-47FE-98D9-AD08BC3E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1B88E9-A196-4C09-B8B0-C40554C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C53E78F-24C5-45D7-B2AA-F30E9AB8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4DE014-2008-4B06-B66D-418277C5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SYSTEM CENSUS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B96131-B264-48B1-AF23-03A06DA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Eight planets are only the headline; small bodies fill the map.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55C17E-2141-46F9-B527-18DB3A4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The Sun's gravity organizes worlds, moons, asteroids, comets, dwarf planets, and far-out icy regions into one connected system.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9E45EC-4787-4B68-A843-04B8C22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45148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415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F2AB70-A271-4CDD-AB55-5772702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76500"/>
            <a:ext cx="53911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A365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575BFA1-D50B-44E5-8323-EA11475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65722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4324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5B5DCF-97D6-4F66-BF84-400B95E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86765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D2A4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31606D-37FC-48F8-AAF2-E501F26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33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8FC785-7D8D-45F3-ACAE-76FF4E7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76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9E4FB0-D943-41CE-8845-91E2279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529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B00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000"/>
                </a:solidFill>
                <a:latin typeface="Aptos"/>
                <a:ea typeface="Aptos"/>
                <a:cs typeface="Aptos"/>
              </a:rPr>
              <a:t>SUN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9975B8-BFE2-4870-8026-B210A1D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11A951-7323-4353-AF3D-717BF3E7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1955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Mercury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436DB0-53D8-4BF3-BF11-0C15838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3D24AFE-86BA-4256-B3FC-61F93988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1475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Venus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D40C0FA-BBAF-4B45-8523-47D2942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EB1FD97-62CF-4BD7-B4AB-6D2D534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14825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Earth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98AFAC-48EB-49BD-BA99-F5FE82D2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4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03E65B-E0C8-4B42-AF94-5D3EC737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90925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Mars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06EFC01-5031-42E6-BA7B-09188BF7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B545AD-2148-43B9-97F8-76CC9F1C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Jupiter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24A4C4-D5F8-43B3-A2BE-FAD7355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C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029D80-7ECD-498D-A064-2AAF00B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Saturn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A85BC5-B2AB-4868-A91A-8E801B7F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7A957D-6A0A-476D-A0AE-C0C29471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2915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Uranus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7C89BF-1DE0-4AC4-8D51-D043915E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76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002A85-BC79-4E39-9CA0-1F86F0FE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543300"/>
            <a:ext cx="91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Neptune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C49ACCC-FCBF-43D2-9360-472805E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87C60B-07E4-4AF3-8CAF-D88449D4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9750"/>
            <a:ext cx="1695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B2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6B2B"/>
                </a:solidFill>
                <a:latin typeface="Aptos"/>
                <a:ea typeface="Aptos"/>
                <a:cs typeface="Aptos"/>
              </a:rPr>
              <a:t>main asteroid belt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E4B771-7055-4042-BBA2-2C6B747C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FF">
              <a:alpha val="13333"/>
            </a:srgbClr>
          </a:solidFill>
          <a:ln xmlns:a="http://schemas.openxmlformats.org/drawingml/2006/main" w="9525">
            <a:solidFill>
              <a:srgbClr val="88A7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4BF69B8-5224-4D6F-A6ED-704A6E3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490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88A7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88A7FF"/>
                </a:solidFill>
                <a:latin typeface="Aptos"/>
                <a:ea typeface="Aptos"/>
                <a:cs typeface="Aptos"/>
              </a:rPr>
              <a:t>KUIPER BELT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153079A-A964-47A1-B26C-751EF1AC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04775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CFF">
              <a:alpha val="13333"/>
            </a:srgbClr>
          </a:solidFill>
          <a:ln xmlns:a="http://schemas.openxmlformats.org/drawingml/2006/main" w="9525">
            <a:solidFill>
              <a:srgbClr val="B79C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DF6DA3-E1F2-427F-8D50-D6A6611E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104900"/>
            <a:ext cx="102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B79C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79CFF"/>
                </a:solidFill>
                <a:latin typeface="Aptos"/>
                <a:ea typeface="Aptos"/>
                <a:cs typeface="Aptos"/>
              </a:rPr>
              <a:t>OORT CLOUD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677EC9-C280-4825-ABF6-881B1C32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2288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36D422-1B09-46FE-9FA2-A475A446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SYSTEM LEDGER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CA4AAF1-2DF6-4C8C-87A7-39CF5E4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D6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48D6F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074565-874B-4939-8081-689EA3F9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planets in the modern census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170D55-D9E8-4850-BC77-A7D5A80C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30568D5-8154-493D-8E92-BDEBA1C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147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officially named dwarf planets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AC690EA-A859-4410-B7B6-9BCE52E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481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0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B000"/>
                </a:solidFill>
                <a:latin typeface="Aptos Display"/>
                <a:ea typeface="Aptos Display"/>
                <a:cs typeface="Aptos Display"/>
              </a:rPr>
              <a:t>100s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801C81A-C6F7-4A9B-A559-5599D27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433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of moons orbit planets, dwarf planets, and asteroids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9E3C42-A9D2-4BBA-983E-924D047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BB5EEC-FC69-4C56-9491-F593DAB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Solar System Facts; NASA About the Planets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06E000E-1978-4AA3-BEC2-7530C41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73375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ABFE5-1767-419D-81E2-C280E4E0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C68F0-F804-4541-A26C-3D119FD6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35C49-F578-4286-9308-12BBB3C1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B431E-535B-42D0-BF30-7B48AA5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6DB7F-F15D-4265-92BB-BAE58579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9BE47-6EC7-4485-902D-97CB28CA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7B855-BC79-409B-8833-F70E2EA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8E6D0-D8FC-49A5-A2D2-6503C4B4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D8E71-83F5-4C4A-8E11-67F1503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574C6-EBD0-42C7-A34D-10B61BC6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559FC-BD8F-452F-988D-9E91996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783B6-9ED6-44DE-8AF1-86B7601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8483C-38DE-4D3B-951E-AF11377E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4004E-F541-4C54-8795-C07DB4E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7DF1A-B22F-4274-BA0C-4F8D5B09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C2AFD-1BD0-4989-96CB-F8B65F6C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B4B81-3053-4EA7-899C-5FEC6633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21FA0-307F-4229-B7A3-A237D18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75E10-F192-4A03-8795-D5F0D68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92638-3523-443C-B6C8-1FC9C85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2CC4C-60A0-4E39-B11D-6954F60C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458F5-987B-487E-939F-370AB1F7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36BB7-A511-41AF-BEB8-5460111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D6CCA-67AD-41E7-B883-3BE050D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F9480-62B8-49F1-8068-DBCBC8C9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A4D96-EC21-4E3E-B823-6622021C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1ECED-6422-4045-BC9B-ED5D3699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9F4DFE-0B93-4634-BF34-563F4A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72CF7-9BAC-4B41-900B-F57C51F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8AD0E-51BA-439D-8C59-0EA422A9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231B-52D0-4C58-8047-259E74F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658B4-91EB-47BB-8E98-39471FD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F6C9B-240A-463C-87B7-5BC63B7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EA1E0-8C05-4D73-954E-F82BE7B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129D94-732D-4249-89FD-AC2E2270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8A88E8-8E2E-4F1D-B412-914BBBBD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628EC-D160-435C-A552-3B5A0E69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32C3F9-AC19-4B29-878F-60017D8D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804695-C1BC-4B53-B23A-A6351337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C9FEF9-0EFD-4468-BB05-316A922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C81B92-B685-45F9-A84F-C90F5CE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7E8CA-D051-4382-86E9-3A90C6D4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531AC-835C-4E4D-8BF7-9A172D9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DF6127-B17F-4D82-81B0-CF9316D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D99A1D-5B47-4E55-B773-60E4B8A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FFE5D9-26F3-40E6-878D-8C5217C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85E22E-AC42-45DB-8C5E-8BBAD19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8B3F2A-E296-4355-A98A-9675F34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F2A151-4D9F-469C-AC12-41F42A83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38D8D2-E0F6-449C-AC28-8A7E2EE4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39FBAC-AC06-42AC-ADC0-D49912D9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ADF243-3160-4C46-93F5-A0507187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2CE43C-4F0B-4B54-84E8-A3B4904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12F571-574E-4A40-A77C-07D2E88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17145E-E147-4FAE-ABBF-58B930B4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54881A-C8A5-4795-83E0-9774EB0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8F3076-8770-4513-94B7-219F5FC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827C58-9713-4C7B-9A44-7274AB8E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C88BEE-E427-4F51-8E75-DB9759F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D06AF1-61B6-4F74-B6C8-F050F857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CA643F-7F46-4198-8C82-BBE91A1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3F9CC6-26B3-49BC-8262-66B7141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389185-E978-4223-8FE9-72C980B8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77E9C1-0B82-48B7-8D58-43BC7BC7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007AEE-A4D8-4E40-BC69-DF10A261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447599-669F-4F7A-B27A-A465EB3A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29DF15-934C-49C9-873D-C9ED697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3A8C3E-A783-4ECD-83EA-F3F4085F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98A6ABF-BB45-4E34-A1BB-B41C0D7D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E339F6-E85B-4106-8993-67D7D37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A4ABA3-A702-44FE-B42C-F7056EB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BE8ADD-3CD6-4D12-B1DA-393F542D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CA3C89-264A-447A-A40B-F9E9782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4183FE-2ABB-469A-9EDE-504C670A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2857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C8C394-458D-4C50-BF1B-995E588C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717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33A076-029C-4618-8F12-44088B3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4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2EB20D-6600-4E2E-BE1F-0A9F414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INNER WORLDS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E0E6C0-9E4D-45A4-A3B0-9147616B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715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The four inner planets are compact, rocky, and intensely different.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87FF73-7CD4-4B8D-B460-BFB71628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Mercury, Venus, Earth, and Mars are terrestrial planets with solid surfaces, but their atmospheres and histories point in very different directions.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28F50EC-1AD3-484C-9F54-B5DB38B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095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9"/>
          </a:solidFill>
          <a:ln xmlns:a="http://schemas.openxmlformats.org/drawingml/2006/main" w="9525">
            <a:solidFill>
              <a:srgbClr val="26365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A45F14C-38CA-4A05-8F8D-272677A6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95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A6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E28F26-9ECD-42D0-B430-4D4C3B8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A20898-0DCF-4C16-8A99-C2EC5AC5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1DD404-36A5-4DD1-80D4-1962B88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Mercury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02FF26-9094-48A9-B739-3C65E99F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562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9FA6A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9FA6AF"/>
                </a:solidFill>
                <a:latin typeface="Aptos"/>
                <a:ea typeface="Aptos"/>
                <a:cs typeface="Aptos"/>
              </a:rPr>
              <a:t>SMALLEST; CLOSEST TO SUN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A32B26-FF58-4D54-95CA-0823F9C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Cratered, airless, and extreme.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0C151D-B913-4A62-9C29-108B3525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2095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9"/>
          </a:solidFill>
          <a:ln xmlns:a="http://schemas.openxmlformats.org/drawingml/2006/main" w="9525">
            <a:solidFill>
              <a:srgbClr val="26365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32A17D-7403-45F6-97AA-1DFB41D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356B9C-8781-4D1E-9B9F-96FD71A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FA6D7A2-ECAF-4D6D-AD09-708616AA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F100A6-DE96-49D1-A41E-8A64F55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Venus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9DB76BF-F8B5-49F1-8968-174390B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76750"/>
            <a:ext cx="1562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90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9045"/>
                </a:solidFill>
                <a:latin typeface="Aptos"/>
                <a:ea typeface="Aptos"/>
                <a:cs typeface="Aptos"/>
              </a:rPr>
              <a:t>HOTTEST PLANET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3101468-47FE-4F64-9DAB-9270824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053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Thick atmosphere traps heat.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2A035E-B3BC-46BE-A836-1F7C236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2095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9"/>
          </a:solidFill>
          <a:ln xmlns:a="http://schemas.openxmlformats.org/drawingml/2006/main" w="9525">
            <a:solidFill>
              <a:srgbClr val="263652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44d09a185448e"/>
          <a:srcRect xmlns:a="http://schemas.openxmlformats.org/drawingml/2006/main" l="10237" t="0" r="10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895600"/>
            <a:ext cx="1562100" cy="110490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0F77AE-B7ED-4AF7-BA18-85E567B1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Earth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9219EA2-B1E4-4BD8-A6A7-3E0274C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1562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48D6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8D6FF"/>
                </a:solidFill>
                <a:latin typeface="Aptos"/>
                <a:ea typeface="Aptos"/>
                <a:cs typeface="Aptos"/>
              </a:rPr>
              <a:t>ONLY KNOWN LIFE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75B2CEA-EDAC-4E84-A7D3-22DE31C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Liquid water and active climate.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4E58FD-B6AD-414A-A891-AC90685C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05100"/>
            <a:ext cx="2095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9"/>
          </a:solidFill>
          <a:ln xmlns:a="http://schemas.openxmlformats.org/drawingml/2006/main" w="9525">
            <a:solidFill>
              <a:srgbClr val="263652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2aaf8d4614897"/>
          <a:srcRect xmlns:a="http://schemas.openxmlformats.org/drawingml/2006/main" l="10237" t="0" r="10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800" y="2895600"/>
            <a:ext cx="1562100" cy="1104900"/>
          </a:xfrm>
          <a:prstGeom xmlns:a="http://schemas.openxmlformats.org/drawingml/2006/main" prst="rect">
            <a:avLst/>
          </a:prstGeom>
        </p:spPr>
      </p:pic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07BDAE-1145-465A-8B57-77ACDA33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910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Mars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9366E4-2106-49AD-B41E-E49ABAC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562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274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27477"/>
                </a:solidFill>
                <a:latin typeface="Aptos"/>
                <a:ea typeface="Aptos"/>
                <a:cs typeface="Aptos"/>
              </a:rPr>
              <a:t>COLD DESERT WORLD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9F78AA-2F2B-40D0-9A08-1270A41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53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Ancient water clues remain visible.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3E6F27-949A-4949-87C8-2A067599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477">
              <a:alpha val="13333"/>
            </a:srgbClr>
          </a:solidFill>
          <a:ln xmlns:a="http://schemas.openxmlformats.org/drawingml/2006/main" w="9525">
            <a:solidFill>
              <a:srgbClr val="F2747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CABB71-5B9C-4BF5-9804-F4F26456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2747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27477"/>
                </a:solidFill>
                <a:latin typeface="Aptos"/>
                <a:ea typeface="Aptos"/>
                <a:cs typeface="Aptos"/>
              </a:rPr>
              <a:t>SOLID SURFACES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93D0D7-53A1-42C5-B681-8C3C2C5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2573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>
              <a:alpha val="13333"/>
            </a:srgbClr>
          </a:solidFill>
          <a:ln xmlns:a="http://schemas.openxmlformats.org/drawingml/2006/main" w="9525">
            <a:solidFill>
              <a:srgbClr val="FFB00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B0E3CC2-111B-48E4-84D7-7D0E5EC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144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B00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B000"/>
                </a:solidFill>
                <a:latin typeface="Aptos"/>
                <a:ea typeface="Aptos"/>
                <a:cs typeface="Aptos"/>
              </a:rPr>
              <a:t>NEAR THE SUN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B32842C-7AC7-4A06-83E8-9167B71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F6CA72-3FE9-416A-B85F-D53504F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About the Planets; NASA Solar System Facts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383BC06-23BC-42DC-A386-BC1742C7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47206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6B187F-A217-4DC2-88E6-B3B5C72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4DC54-E4C1-4E7C-905F-E921054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EFA1A-C0E7-43A5-ABDC-6F19E6C1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70717-DD51-40A2-A8D6-B654A17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BDFB6-6BF8-4CA6-8AF2-314EAB1D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9CCA2-98EB-4542-8F87-842198C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1AE42-4196-46AF-B045-6F8047F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3552F-25A7-4BEC-A380-D2A1E32D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3F2BA-5061-48C9-B6C5-7F1CD95B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F6B36-3F5B-41BA-AA33-FC91C36D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FCF95-B24C-4A46-9EDE-74031619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CEE2D-57A0-4F9D-8B73-D505E88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6B25F-F9DC-4DE7-8A23-05080F5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10CD5-CB2A-4044-A445-90E9686E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6E7FF-651B-441D-B441-68A4076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5272E-B722-4A2A-B734-427B608B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EBED2-81E2-4FBF-8213-DFBCEA9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69651-B02C-425C-91D0-43E89838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75DB5-6890-4B6B-827A-D13D8186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B261E-250A-4F15-BCE8-D0D5DAA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0C69D-BCCB-420F-913F-D0402A2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55D20-8AA1-4F87-8A85-A2E013D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5754B-65A4-4C52-8351-ABB9EF2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C2122-01DE-4B2B-B4F6-A0F687B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EAB89-FE56-4687-9AC1-0644E6E1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BC05B-92B7-4EE6-A5FC-AC0AB32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EFA0B-38AA-42F9-9795-FF93D3D1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9C5D0-94C5-46DF-8862-55CC342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EF844-D4BC-44BF-B6B3-3705F051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D15274-4AC2-4576-A594-4268CBFB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609DA-980B-4E29-8940-26D9E5EF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FBFD6-28C3-4E06-8B05-FC02AAD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03FC2-D054-4F39-8A61-8AC3526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BD4ADC-3CD5-4E04-A59F-5B9AE6F3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DA044-BB31-4452-8B90-754B7650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F7CEB-3147-40B5-A4EF-AE8ADF1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59D5B7-AFA3-4BAE-A955-84F0AD4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704B2-152A-49BE-93AC-9DE73BA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369204-68C1-4CFE-92E0-086E3F7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FBA40A-11F7-4FCC-856E-B6CD097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872261-54CE-4EFA-A0DB-E0699E9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558E7C-E84F-4E50-A32F-831865B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7F6F9C-1774-40F9-849F-D3C9DA2A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B86999-F4DE-4176-8727-F958352A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BF1B5E-DD1F-4E2B-848F-8FBFAD5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76A85D-36C4-4798-BBA9-4FF61E9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78AA4D-EF0A-4729-BDBC-061B87E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D6BA2C-EA39-4416-BF9D-C9E5F3D6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9FA343-81CA-433A-BFE0-DCC8675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B88CA0-31C7-4DD9-94AB-27CBCE6D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A66331-431E-4D42-8A8D-22DDB10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65C1A1-59BC-4376-9F28-DAAAEB8D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46AC9E-4F08-46F0-998C-FCF3777E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63197A-59C6-4B81-B802-5E5D2F4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1EE174-46EB-4DB8-BA7A-3449FDBF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DF323D-8C87-4BBF-BFD0-7173D8C6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9B67EC-3675-4E23-8E4C-0E45270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885674-5FE3-4C7E-BB58-374F4E1F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0EB0B0-FA85-4F0C-92BD-997E0E84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C5FA75-6F9E-48A4-8139-87BB94D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D906A9-E9B1-4EA6-A5C8-453EAE7D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F323C3-6CC8-4E40-8DC2-CF55134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E73CD9-6D59-4D33-835D-1CC0AF0B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26DFA7-9D45-47BD-A0A3-B5BD8E1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6A519C-0D11-4C1A-BA21-DF32C68C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1C1899-A0CD-4955-B646-539F5FA3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C4F86C-C9EB-4D6D-9480-240C6F31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A1B249-5933-4048-9E23-F30D50AC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8B68E5-CD53-4216-AA83-4C886380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B8A49E-B42C-46D2-BB09-493F3890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562510-4834-4BFE-B697-E787021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1C384A-9349-4467-B556-A227B50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5F92B5-BB2A-4CD6-B82A-438FBEFD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B435F8-F0BB-4792-BD89-6F1A309B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36F7FF-FBAB-42E4-BF71-678A7DA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OUTER WORLDS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F76776-AB93-43BC-99B9-64E24A97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Past the asteroid belt, planets become systems of gas, ice, rings, and moons.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678678-F328-4FCC-973B-E817C541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Jupiter and Saturn are gas giants; Uranus and Neptune are ice giants. All four giant planets have rings, though Saturn's dominate the view.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5886f9cbd414a"/>
          <a:srcRect xmlns:a="http://schemas.openxmlformats.org/drawingml/2006/main" l="5367" t="0" r="5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724150"/>
            <a:ext cx="2781300" cy="1752600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8e8d6cd63467b"/>
          <a:srcRect xmlns:a="http://schemas.openxmlformats.org/drawingml/2006/main" l="23577" t="0" r="235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2724150"/>
            <a:ext cx="2781300" cy="1752600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c2f25be14bf3"/>
          <a:srcRect xmlns:a="http://schemas.openxmlformats.org/drawingml/2006/main" l="5367" t="0" r="53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2724150"/>
            <a:ext cx="2781300" cy="175260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A60347-3E8D-45A8-8F72-CD285157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544E0D-4CC1-48BC-9A72-5E465AFC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9D59B9-ECA0-4B77-8FFA-39BBC69B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510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19474E-3E7F-4A06-9AAA-EA2FEB4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Jupiter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F867C1-A4CB-4B97-A9EE-AC6D167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gas giant; largest planet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32D79B-8642-40B5-9442-4C5A30B1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86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Saturn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028D92-B8EF-4134-98E9-B600B99E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720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gas giant; ring icon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A1E641A-0A6A-4558-9896-BADBCA26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Neptune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467FAF-E10E-4A14-851C-B1AD20CF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ice giant; farthest planet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D58A85-D202-41FA-B84A-51EE065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86050"/>
            <a:ext cx="381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D74621-944A-4C55-B7EC-F60443B1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67000"/>
            <a:ext cx="914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outer planet</a:t>
            </a:r>
          </a:p>
          <a:p xmlns:a="http://schemas.openxmlformats.org/drawingml/2006/main">
            <a:pPr algn="l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shift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7341DBC-83EB-4FAA-8866-D7FA2C0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971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The story changes from rocky surfaces to atmospheres, magnetospheres, rings, and families of moons.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097C341-B7D9-4229-9E16-61D88886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BC6F5C-21EC-4E9B-9914-D4E497F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About the Planets; NASA Solar System Facts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F9E1E2-572E-4FD5-B284-0A6C5DBC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12048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261F8-8BB2-4016-B9A2-04815F02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C9D71-F57A-4222-95A0-0E63436A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CACB4-6A79-4F07-894D-CB42C874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EE909-9B7B-45E0-94BA-5B203CC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E7502-838A-4E15-8C98-9F7007F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43E4B-793D-4C74-8616-693BE66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3BC00-A775-4334-AA42-079BC697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DB155-3AEA-4F04-9629-E94A3705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37D63-CF43-4F13-8DF2-AB9A4A3C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E812C-D548-4C23-A037-520DEAA3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2FE54-CDEB-42C7-90DC-E671A5A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399F9-E99C-4ADD-B40D-C93CDE7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6B3D7-B261-447A-AF5C-8EDAF1FF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8AFB6-9A07-4461-B00B-1F1B1C0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B19B1-17DA-44BE-8D93-377F6617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E76B1-6BA7-4A20-A09B-60924A5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BFD5E-5684-4550-9429-138305EB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FF567-CA60-4FFB-A7E6-EC812C0A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36109-697E-48C0-8C65-F957BB9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25E47-1E2B-426E-B1A2-8DC52FA4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6910B-219B-4AB1-B29B-FAC6C8B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AAFD5-9C1A-40FA-A525-0043D3F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E6086-CB45-4933-A31E-0443E1EB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9C795-07E6-469B-9B61-2FD903EB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B0EE7-A406-426B-9FB5-1003E7BB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E939F-4809-44AA-ACD4-E806FA0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89F28-718D-4B87-AE2A-2BCC38DC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2DBD4-1913-4AC7-9A61-99F8F2E3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ECBC4-C4D6-4646-8848-3CD54144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20F35-42EE-48DB-86DA-AF1CD09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09FBA-A233-4420-B623-3269E19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7BF82-5E79-407B-8B0C-4BE4B082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4A363-29BA-4FAE-96B1-5F8F35DC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6CB2A9-1B2F-45F2-8D8E-73D5D9B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1801A9-AD31-4CC0-8F60-4D4E88B5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4CA905-7977-4394-B934-13C3EC62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431E2A-2A62-4BC7-BA0D-DB5DE96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376C9E-5890-4695-8495-E2AB175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29AD2-041D-46DA-8089-B76FBBD1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5E6B56-AC6B-44A5-B150-2E112E1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99D87-9BC7-4FD0-897F-626E357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ECF920-2066-4C28-9A7E-5D6C7C2A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0F37D-5BEE-4CAE-8242-C0455F2F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B6B878-D063-41DF-9A08-F88AC534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44EFFD-4390-4C16-849D-E9331D1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1FD673-5C8F-4F57-AF43-FDEBCBD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76D17D-CFE8-49C5-BA44-C6AD6C29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2B6259-1CED-4491-B189-70EE8650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B7357E-1FD5-472D-B212-BDE4876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F0E253-3C18-4463-9F7F-B6121981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52024B-72FB-4440-9571-17904C0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05AA37-915B-4AD6-84F5-604005D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32420F-F5EF-4402-AFC7-7498767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A25DEA-ED92-4C13-87D9-70E6A4D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218D63-6BB1-4B7C-99B4-AE5330C2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2FC14A-2412-43E5-ADFB-E947162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14C4E-6281-436E-A781-E6F8EA88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C7BF1B-833B-43BA-8D8C-C025C2D8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1FB251-E359-43B5-8662-84AFEB2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5E3EBF-3932-428C-A5DA-3E13CCE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46DCE9-E5F3-4B82-B7CC-D04298A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481D93-D4DC-4343-A362-BE29DCAA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863258-7EE4-4C3A-8AB1-64827F1A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E999EE-EFB0-4217-9C8A-239E231A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CC451D-D08A-4EB3-A997-835104A0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B4FE24-A68D-428D-847F-EE3FBBE7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07CE03-349F-4406-B224-C46305C7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FC069E-B376-465A-B016-FE5E7D9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3298204-2D2C-49A5-8793-FA455079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9D7784-2735-4658-B13C-84D3647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CB6558-CE20-4AC8-9FA6-239F825B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57E00D-3301-4E32-8F21-D918389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B547B0-7ACE-4FBB-B110-2BE25AF6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33544F-3011-4F4A-A431-8D96743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2857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B21F268-D582-449C-BBA3-1394683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717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F9C736-92E6-45D9-A152-D42B6CD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098A4D-BC05-49D4-B113-93EADF6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SCALE SHOCK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CD035EE-8DB0-4B84-BBC6-DFF87AB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Distance, not size, is the mind-bender.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7EA30B-7967-4257-9C1C-D82A5C90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Planet posters compress space. A more useful map treats Earth-Sun distance as one astronomical unit and then watches the gaps stretch.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41FA737-C6CE-42FE-BFA0-EB47180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A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FCB2FA-BFB1-473B-A7F8-5644811B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A6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CC3BC3-D276-490E-9CA9-10607A7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A6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CA7B13-439F-4F92-928E-A684C6F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Mercury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ABD17C8-2AFA-49C7-9384-31723CB2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0.39 AU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0D8C061-3AD5-4158-B1C7-0D6451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0B1906-83A2-4760-B8C9-A156844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36A453-AD7D-4A90-9791-46C6DF7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386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Venus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4A552C-6E9A-417C-85D8-C31190D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291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0.72 AU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BAE817-851D-4E7A-9DCA-45962F3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74C051-2A1D-47EE-B256-59CE702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D0BEBD-7294-4648-84AB-793248D1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Earth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E99422-6DE4-4576-A686-33C4B85C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1 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6AF80F-9355-4A4D-AC4F-F3DD0F3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4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26D809-9780-4323-9CE2-EFFDACCC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4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11550A4-84BB-4FC9-809F-1666CAE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Mars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4EFF28-A090-46E4-A4B6-408AA8E0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624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1.52 AU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08EBED0-ECA6-442B-BC3E-82D99DE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DBD7DF7-39C0-4247-AF27-018E008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74A682-4E96-4B93-9D65-1C8CD517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Jupiter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B83763-C1ED-4EA8-B336-264462E7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480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5.2 AU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CB02FFA-2060-4476-AEE9-E0EC5B3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929006-74FF-4BA6-9872-41EAA94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C0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0146D98-5154-419B-8807-142C5FFD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Saturn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B9EC4E4-7229-4C25-A579-90E256A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624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9.6 AU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C2B36C-53E8-4898-98A5-1F76197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3D6D2F0-D70A-4690-9023-F205F19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D7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DE057EA-382E-4A7E-8200-76C6C97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Uranus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AF0D083-992D-40B7-964D-B57AC901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480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19.2 AU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1C6CB97-AF50-4D70-B6F7-9E4FCB5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7E880D-7D43-4E4F-AC29-5EA6569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4D5B1E-41FA-4666-9991-C03F1AA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Neptune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78E2F04-0600-4FCE-ADEB-37AB0DDA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624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30.1 AU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D7F0D5B-190C-40A8-A37F-56C5D17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466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88A7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1E71738-4993-49A7-A954-72B1884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8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88A7FF"/>
                </a:solidFill>
                <a:latin typeface="Aptos Display"/>
                <a:ea typeface="Aptos Display"/>
                <a:cs typeface="Aptos Display"/>
              </a:rPr>
              <a:t>Kuiper Belt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2086C6-D82C-4561-90A4-6CC2B080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30-50 AU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010F8DE-E923-4529-B9A4-F08B9A9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481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879E84-A3C1-4F54-A81B-7DC79F25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337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rPr>
              <a:t>Oort Cloud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99F868-70FB-4BBF-B53E-01E8A56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64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2,000+</a:t>
            </a:r>
          </a:p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AU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C576393-3CA7-4DC0-A33A-7B8664D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853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3">
              <a:alpha val="7059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13CD806-FFD7-49D3-AA59-9923DB8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802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1E3"/>
                </a:solidFill>
                <a:latin typeface="Aptos"/>
                <a:ea typeface="Aptos"/>
                <a:cs typeface="Aptos"/>
              </a:rPr>
              <a:t>1 AU = the average Earth-Sun distance, about 93 million miles or 150 million km.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ABD4745-2A1B-457E-86B3-9C73685B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5940FB-3EC8-416D-AF7D-386A7E33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Solar System Facts; NASA Kuiper Belt Facts; NASA Oort Cloud Facts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9AB0EB5-59C4-4418-9A5F-4146A7DA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9956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DF2B3-F938-42B3-98E3-66FDBFB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156B5-B7A5-4E2D-BA86-7265C42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79D57-19A9-4462-99BE-3A29D99D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BFB28-3278-474F-9337-6770430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57D35-37FE-461F-A59B-715FA60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F6C6C-648D-4E11-ACDB-A2A21486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10003-BD76-46C5-8272-60347F23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758A6-582F-4E1D-98A5-4928AFBA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14F34-4450-4A3F-9414-6D2A1C8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24728-2D57-4E96-8FAE-937977B0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6521-EBD1-41C4-804E-0033FD6F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1DA36-BCD9-41D9-A6A3-65ABFBA0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0A5AA-3EB1-401D-9F66-ABF0E82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B17D2-75D3-49E4-A438-44DA44B0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E60DB-AED9-47B7-9CC6-602CC689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F9ADB-75D5-4662-8AF1-B1E85272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38D8E-5BCD-4C24-A52E-D87489B6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83BED-BAEC-4FC2-BBAA-7FAF710D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2A6B5-F522-4D97-8E76-0320D9DD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14851-9305-482D-AC94-9A1981E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482F3-9056-4281-A8CD-EA8899AE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50768-C714-4829-AACB-586881F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9C89F-E4CD-473A-8969-17D8D9F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AD1DA-83A1-4FC0-831D-CA719E55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E1163-9D0E-4584-BE2D-979FA3BF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5EF05-7B8D-4CEB-874B-3A520508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AA31C5-8C17-4022-A9F4-5CD93CAF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04640-6960-4866-9855-B669D6EC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4DFBA-6EB6-4274-A092-62A724D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16686-F169-461C-830E-76DAB92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CEBA8-3B43-4828-B42F-62C7ABD8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A4FBD-54B9-4FB5-8E6F-21823E1B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AF7A9-CA56-4BAC-A610-BF9A187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F48139-F560-4902-8576-B22F6BD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7C3C4-0E4D-45C0-9B1F-37B1F3D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6AEF74-98DD-4859-A48D-572CF1A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C492CF-060F-420C-A7C0-09DA665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869358-D9DF-4F18-B3C1-1CF03AC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D80755-7B05-4BA9-9B09-38EC56E0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BC4975-8922-430F-AA18-498B6312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927EED-CDE0-4C98-A20C-C2EA4450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2BAE13-6C13-4BCA-9667-F99AF0E7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3C26C0-A25A-49E7-96F5-DB0A7BB9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6725B2-0A18-4115-98F7-A00EFDA3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5A5198-3CCB-4AFE-8E09-A957881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B01674-0259-4B4B-9B6D-9FCD65A8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B063F5-3A53-4633-B970-69F9473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A74E41-C351-4C29-B4C4-05A9384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B693CE-1A58-4153-8742-C4F3269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9E51B9-585C-4B0F-820B-96C8D80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DB606B-FE24-4286-BFCA-78640261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468D84-A617-40D2-B213-8AFE3D4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D44A8B-DB2F-427C-8F6C-7B74229D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FC75ED-71EF-4FF3-9E94-53FDFE1A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B15BAE-4777-4168-B91B-6FDC10F9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A4E36D-C06E-4D8E-96F7-674421D2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76E7BA-FF25-4F9A-B896-1AB174F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7B74D3-60FF-452B-A0E9-B9EC939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59A5BB-137B-4897-AB42-50FF6473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8A8D4F-3BF1-4F63-89AD-F1AEC115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547A85-9E20-4B37-86F9-F52A38E1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1BCC82-8AE6-4DC6-9EB2-C11507D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5E4305-B313-43A1-A4D2-2E03666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B4C62F-389B-4459-91E3-181AF64F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429C64-8A28-45AD-BB0A-36F0E8AB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C712B-A936-4295-BE88-E0B713F5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FFF743-1F54-476B-82CB-6736D8AC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CE9B17-A5A2-4120-9E23-389E9E92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504BEE-3FED-43BA-86A3-3AC5DE2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A1E20E-4322-473B-8A19-BDB13FB5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0B8262-1316-4760-9E35-8F70A31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2F5E87-6149-4F4D-AB4E-A07829F6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6CBC2F-5E4B-4F16-B679-53239DF0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949011-04B0-4082-84A3-45261969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C7C859-3CB2-41A4-BA82-DE8456D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LEFTOVERS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2502CE-3AA1-4DBA-BDAE-F7BD599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The leftovers are a memory of formation.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928DAA-3464-4A18-9429-5D5610A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Asteroids, Kuiper Belt objects, and Oort Cloud bodies preserve material from the solar system's early construction zone.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F0BF8E-EDAB-40F5-93FA-649CA53E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95550"/>
            <a:ext cx="33909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415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188EF5-AFC0-44E2-AF2B-BF697197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483870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6365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BA4C0C-956B-4BC6-A505-8B986847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6477000" cy="426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E2A4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F91616-2A41-42DE-A967-0459D77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6C83E4-7899-4E49-AABA-BFF5215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576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B00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B000"/>
                </a:solidFill>
                <a:latin typeface="Aptos"/>
                <a:ea typeface="Aptos"/>
                <a:cs typeface="Aptos"/>
              </a:rPr>
              <a:t>Sun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6CE075-BA1F-475D-B015-319AD9DD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8965EB-4232-4699-ACA4-58B89DDB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33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8E4BA31-7CC8-4F49-A372-035970B4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05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C271F33-A017-4DB4-83C5-366618C2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52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CD4234-F9A2-477D-BBB7-CA498084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3CF955-B6CC-4C31-AC70-23C67487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718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7C0488-98E6-431C-A9F9-FDDB616A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E28810-E5DB-415E-B259-5006EFA1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5909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82F5FA-6EEA-4A7E-AB98-9C37D783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62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BA9E73-0878-4642-B5F0-E5A3766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6099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D3D196-7880-4DBC-8F13-06B26E1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2C5804-7ACD-4BF6-AD8D-079FBDCB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290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65D0E0-CBEF-480A-B822-0D0F92E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56C92FD-8B39-4CA0-BC5C-393CB967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480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7E87B3-0072-466A-A321-C2D4BAAB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19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0B3CCD-AF26-4606-AA50-8F85847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671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89BA047-D953-463B-8653-09849B2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5476DD-2619-417E-90C8-47370C9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861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72E5754-0B37-4C2E-8C12-65CF7C69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1569BA-391D-4885-9A0B-14ABAE0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052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B424A1-991D-47BD-8887-91F4391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CFB2A4-4D1C-46B1-93D9-F55D4EC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242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E4D3314-5C4C-4278-91C7-E85520A1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814E93-68A7-4F12-9238-4DC862FE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433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B9E405-622B-4620-8A86-F299754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F08E61-0D0A-46B8-9926-70036DDC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623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8BD4B9-4431-4BFD-97F6-33CDC8F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96E642-1DA4-4B32-B61F-BE4C15E8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81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181A10-9EB1-4E43-A070-51AD2D01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528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8064E1-F8AB-4A8C-A940-60865790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004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1154857-B8E4-4C7C-A5D1-CFB80DB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28B742-DF45-4E25-A8A9-43A0086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95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1D4213-AEC7-4EA1-B81C-EEDD481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909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219BCB4-FD7D-4D45-B38A-08E7AE71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8385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4875BAD-D396-4A47-9333-20A5B47E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99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F6A436B-376A-46AE-A71B-00F530D6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576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EE5EE03-9530-4C9C-A8C1-9FDCC707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BF34520-6D55-425C-9CDC-656B023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76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D63293D-36C6-4D60-BA7D-F2A04080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80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C641934-3442-41D3-8C59-3E1EFE81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95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A263D7F-2264-403F-9BDC-568475C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49EB460-EC06-4D8C-9DEF-2A1002B7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914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8CDCB6C-EC66-40DC-8E63-806455C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688CC76-DC50-4DD7-9AD7-A8ED78AA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33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9F10DC6-26AA-4E38-9B40-30EEBD4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052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CD0D400-E15C-498F-B132-6989844A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528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653459-4EC8-43C3-8740-341B604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242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A1982A-5680-4794-8F0B-0E8DD805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956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393B3F0-A700-497C-8009-92E1DD5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433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77C71F-6B50-48F9-B484-26CDD829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14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F046A80-787D-4D3B-A2D7-FEA93945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623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DEDC059-B17B-4557-833D-27E5AB62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337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E9D4EA6-4449-4FA2-A3B5-B8FE98B7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EA71FB8-B268-4EBE-BDEB-1CFDEFAA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527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6E07D0C-916F-44F7-A8BC-01EAE7E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0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EC71518-6795-470D-B517-C2C119C3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718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6845AB-44EF-4A92-8853-4136C250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195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9912BD-D323-419F-861D-A9BC0F37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908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1258B12-3522-4AA1-A56A-D039932D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481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B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6B2B"/>
                </a:solidFill>
                <a:latin typeface="Aptos"/>
                <a:ea typeface="Aptos"/>
                <a:cs typeface="Aptos"/>
              </a:rPr>
              <a:t>Asteroid belt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AEAB53A-1989-4F6F-8EDD-657DCF3A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621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4BA961E-F3A3-4FF3-9A4F-599241C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1431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DA5F7E3-AFE2-4D4F-9E2A-C6F7356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8D9E4C4-8DB0-4167-8091-26C80D3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051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BF13DD1-D4D8-42EE-959D-0D1F7122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3F84992-1BB3-4AD5-B128-CBA7CF72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895C079-9B64-43D5-B12F-7CCE8D28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59D074-B792-4A8D-AD00-CD8D1B71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622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2F056F8-782D-400E-A1C0-7FD2E7E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A2CFA41-4FDC-4F77-A9D3-A89021F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242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9EB9556-A50A-4A47-8253-F75027F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08B87E1-DE97-4A90-BC77-8D12C13B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8192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7567A7B-C648-400B-8D17-1D34786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4ECBA02-711A-42B1-ACA0-D5B15C2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813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3FA2FAD-C0D4-4E38-BB99-DB01314C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602318A-A188-406D-BF6D-8F8D5504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43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608A997-BF1A-4981-A51C-FA0BA4B4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57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AE19944-8E6D-4EEC-ADA7-E470F3E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383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EA4DDEA-C460-4EBC-9B47-34F3260A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F7B4A95-D3A9-4A03-8A06-7EADC5BB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004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9C9D7A3-3B60-4DDC-AF2D-287CA67A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BB2AB7A-1D7A-4136-845A-65710575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5624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25CC0A4-8886-46FE-B687-C0C3205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116D9C8-CF3C-46BD-9367-F208276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574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E9F4A11-9F5A-4ADC-A905-3534ED2F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38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DF4FDBD-C761-46E2-B9AA-BD41463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8195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F8CCF92-084D-4261-A06C-5DA0F3A6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00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7174B0A-D116-4BED-BFDE-EE03E67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145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8BDE61B-3834-4297-A7A1-B6C2D59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146432E-13AE-4FBA-AA31-C4D8A1B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765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52324D5-26FF-4823-9A2F-E8BEB00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B74C773-9915-420F-BA92-9C2EC8A4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238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12CF426-10D2-4ACD-889B-86046AC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4F3CAAE-CBF6-40E5-84C1-D3EA0FF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2BD24E0-1A25-4FB6-9DDE-6260C1A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943B935-41AE-4660-817E-FEEBADC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956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C721E74-7F57-41A3-B90A-CC0B987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AA603EB-7A88-4C80-87EB-48DDDBD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906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B70BBC0-6D9C-468E-A639-5A43989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1D76DC4-B8FB-4C98-8774-32760BAF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527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08F1C51-CB06-4F57-B0DF-06E78AF1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35A428D-FDC0-416D-8195-562F5AAA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14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90BAA82-9F3B-4302-8638-2812178D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296FA6E-ADB5-4571-A79F-045C012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9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2784D9F-558A-4E26-AAFC-A7B03FBF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908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7A1F0AC8-C11F-4B86-9787-DD7BE1E8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718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1F08B9-B3BC-440E-A4E2-BB07FE05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528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15E0902-C227-4125-9075-A1C3B16A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338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37E4A67-1213-4D23-84D4-77426614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8D99D3F-20EB-4E19-A6BC-DCEC6A8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288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C0280FC-F819-4F5E-9630-5F8F7A30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C5AAA76-8980-4C19-989C-1ACFFCBC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90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4744501-7CDA-4D7C-A672-251DE6B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719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136BE6E-8F9B-4C8B-9E4E-A546545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85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7B343ED-1C76-4610-B7CF-1EBA348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8672308-E0A1-4F69-8B2E-AF0D3162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479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8B8E2C1C-776F-431D-9360-D6392D3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1DAD387-41CA-4BC5-B16E-A17CD728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100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BD94FC0-AA7E-4929-A4A2-DB45E124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3D02B67-16D2-48AC-B182-299CEF0A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050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D018E72-B7AF-45BF-8D61-F6BE84B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F11AF3C-A336-41CB-A39B-2492675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67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812811C-1631-4537-8A2D-0F18A23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42973B2-E3A3-473D-B3FD-74E9754B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291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DE7738B-1DCC-47EA-BD84-57F43AE7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D5DF16F-06E4-43D5-A2FE-3E40003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5241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5EF1372-B52B-475E-AFFF-761BA42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C3B420C-72A1-43A6-911B-D676ADB1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861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1F5964D-848D-4E20-ABCF-E80F131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4D05DE-07C3-405E-BDCC-CDA06DC2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811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09785B4-F94E-4960-8F54-2B4F2CB2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BABA221-5AAD-49DB-A6FC-E4A9486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432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B90CC25-3C91-4E20-B580-185BFBA2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006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8A7FF"/>
                </a:solidFill>
                <a:latin typeface="Aptos"/>
                <a:ea typeface="Aptos"/>
                <a:cs typeface="Aptos"/>
              </a:rPr>
              <a:t>Kuiper Belt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55314E4-17DA-4F92-9F14-8750C86A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2381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845A138-19D6-4AB7-AAF7-464D4CB5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09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THREE REGIONS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529ECA6-5459-4FA6-A50B-01B0E943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6B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96B6ED3-8E46-448C-91BD-C89A6955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85950"/>
            <a:ext cx="123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Main asteroid belt: most known asteroids orbit between Mars and Jupiter.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5103D73-9FAD-4E4A-94C1-6393B411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8A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8A7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40720A8-6FAD-4463-94B4-B718F7E5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432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Kuiper Belt: a broad doughnut of icy bodies beyond Neptune.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47BBE9-4D66-4C43-AB7D-AC9BB5E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79C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58867E1-3E85-49AA-86FF-B8E2F1DF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Oort Cloud: theorized distant shell and likely source of long-period comets.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F1942E0-6FC3-47B0-B571-1E474B3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4B2A778-34CE-4FD2-849D-235A9D1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Asteroids In Depth; NASA Kuiper Belt Facts; NASA Oort Cloud Facts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AD2BA6A-851F-4BA3-BA56-7333118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78369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01FF77-4846-41DA-955C-37674F6D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8D400-0C03-4A85-B122-B2C0BFD2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D3CE-8261-40BA-99E4-DD74C0C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417CD-CB55-4A98-83BF-D5141F09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796C1-5D75-4DC7-BA0B-3520895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C1FD8-84C2-4956-B96D-091D8CE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3B8E2-12F9-4D66-8191-6D4D8755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F7611-B8CA-4762-BA47-B6A1285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D034-71D5-4D79-B967-897F053F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24562-7A92-4158-A500-8C14D32C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6BCEB-BE40-4B39-8104-322F166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75305-8186-43DB-BEAC-6057C189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A69E2-B788-42FC-88E2-73A2AC1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35CFA-4350-4E05-AB68-2338D603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29E0B-93A6-4CEB-891D-9D5FA200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44BFA-A038-40FC-B69C-3C3D9D01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7FB74-A5AE-4495-A456-156D5A3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AB8F4-04C5-4A03-8734-F3E94778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3428C-5E99-4746-827F-23ECAB7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1820D-F244-4232-8B4C-120B455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BAD56-8663-4FAD-BBB9-681C5F0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D97BE-6012-4001-9A15-2D84718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22248-9453-433C-905F-FD756F32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DAD55-A7DA-4378-8117-5A521C6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443B-4B14-44EF-AAC0-ABD1257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4DE96-A920-4C3B-B0F2-DFFD462E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62B76-54B9-4BEB-B409-E5EFDBBE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CA85D-6311-43EC-819D-E2C345ED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7B7DB-19FA-4300-AAFD-7ADB2610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CB65A-46AA-4865-9095-F80922E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079F9-2CA9-4322-AE08-198D7FD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BA0BF-98C1-4B22-A957-7FAE27DB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4B4E31-4B32-4244-9D55-EF25336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55C8A-6857-4BAB-9494-63F951A1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673C57-4D93-4468-B03A-14F3C989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C21E8-21A2-47E3-8B61-4B0E6A4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DB989-0AFD-4D33-A651-064F880B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49878B-EC92-4C34-9C7D-1498065C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9F660D-7E75-4DEC-9A9C-AF68B489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1C70D2-AEA4-4DCA-943F-D0D8F43C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6CB8D7-2E49-4BD6-BB91-65CF780C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932449-4596-4E22-AA0E-97467720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7F6D89-252F-4F9B-A9EB-279FB593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1153FF-664D-42B0-AA59-B25B984A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3278FE-D2C9-416A-803D-A028B5F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AD5988-61F6-49FB-9B85-002FA403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39655E-7C64-44CC-BD23-C48C7924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3A2D01-F2C3-456A-8E0C-F4818549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2C4D2D-D6BC-44E1-8443-30A6A7E2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AE31CB-A94D-43A9-B1E6-A1D92BB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050E0-36D4-4166-B25D-7B71509A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E36740-D778-488B-AE1E-380714B8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5F4330-E574-4DF7-8977-3F87CBE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1F77ED-42AB-4934-8CE9-A2D5DDCC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4CD63E-A96F-4F17-BB73-D7F2B2E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F8C062-697C-41F1-8B11-39BC2756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82C544-FBF5-4874-B280-05CF62FC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74C500-E16E-4DF2-9AAE-F4EAA40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3E9DD1-1906-4732-8978-3BECAC35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16675D-A13B-455F-9B95-4499C6A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421E71-48B7-426D-AFD5-4D0C1EB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DA76B1-2B40-4EA3-8869-4C912763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FA68BFF-F480-438A-96BE-F4074C0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24F316-4DBA-40C4-9BFB-7B5DEDDF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F423F6-4083-44FA-B9F5-6790C37D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B0F206-AB5D-4E5C-A243-4282166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415A06-8DF2-41E9-A4C9-13F5189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36E475-2918-409F-AB05-8BC01A5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919370-539F-4D7F-8FFE-35A84E6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AE2DFF-B65E-4E00-8F0C-E7D9E00B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CC3955-1AD3-4AEA-8B21-7CCC1E5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4D1587-C192-4A75-A858-33718F64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A17B3B-1574-48B3-B251-E951128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D64B43-5312-44BA-A2B1-D056FFEC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28575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A4CD01-5AED-46B5-9A93-6B5A319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717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653C36-97F1-4896-9EB9-1BA15FEA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E2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573AB1-2EB2-4F8D-AC56-2B9BD6AD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LIFE QUESTION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A0998-682F-4659-8C8E-F777DAA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Earth is the only confirmed living world,</a:t>
            </a:r>
          </a:p>
          <a:p xmlns:a="http://schemas.openxmlformats.org/drawingml/2006/main">
            <a:pPr algn="l">
              <a:defRPr sz="27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but the search points outward.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222E82-0CCF-4A60-A1E2-9213BD46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NASA frames the search as a system question: where do energy, chemistry, water, and time line up well enough for life as we know it?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e4cb80e704389"/>
          <a:srcRect xmlns:a="http://schemas.openxmlformats.org/drawingml/2006/main" l="13625" t="0" r="13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742950"/>
            <a:ext cx="3695700" cy="285750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3B8206-3F3E-4733-8A1A-AF91FB6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23900"/>
            <a:ext cx="37338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C115F3-A622-4131-99A0-37A94AB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0487B0-CD40-4202-A3B5-E18127F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09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091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4CAF648-D03F-4B3A-B32C-C00DE821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Energy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157FEC-5299-42D2-84D7-7A46241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242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Sunlight, heat, or chemistry can power change.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3DECFC-35E9-4922-AF15-F5DC6D0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D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FA550B9-960D-42DE-8B64-75E31ED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09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091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F6B16B-1027-4C6B-A257-76D7BD2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Water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6EF1DDA-C571-4806-A548-6BA7D09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Liquid water is a strong habitability clue.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850855B-43D9-41A7-BDDC-47DD4EE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E2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D0FD93-682D-4670-A04E-31C96FE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09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09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AA8948-FA0B-4BC9-BDC6-0527DAB8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Chemistry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DA0FFE5-ED8F-40B9-A3F4-5AE72B08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291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Carbon-rich molecules and minerals matter.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3F432F-4004-4C2D-BD87-23842FA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BCF343-F0D7-4D55-9B5A-D7EA53B1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7091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091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6438449-F301-4CF9-8123-146623B9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Time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D2CF18-95A1-46A2-91FA-22F16CD3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Stable environments give complexity room.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5510819-C51F-4F86-8CF5-C55E4527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3695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3">
              <a:alpha val="7059"/>
            </a:srgbClr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029684-7984-4CF3-9068-D59B2C77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862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83E2A7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83E2A7"/>
                </a:solidFill>
                <a:latin typeface="Aptos"/>
                <a:ea typeface="Aptos"/>
                <a:cs typeface="Aptos"/>
              </a:rPr>
              <a:t>KNOWN ANSWER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88AB2F0-0267-44AC-A1E3-59CD59D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72000"/>
            <a:ext cx="289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So far, life is known only on Earth.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9D787DE-B5D5-488B-9920-D0DFAA0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9D52B4-EFF5-4D04-AA7E-D7B2409F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Solar System Facts; NASA Earth imagery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F82270F-633F-476C-B8CB-21F72BB4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24570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7AD7B-955B-409E-B480-FE4CCB0E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27C3D-896D-4B8A-BD85-DD3C2453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237EA-5345-472E-9BAC-3F3BD67F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23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45280-9713-4CFD-8F33-B810173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28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565B1-2A97-45C4-AE34-3731FF07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B4C0-6B9E-4E29-81C5-18FC8D5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C4C5B-61A9-4551-B8C1-045423F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C2AF-B1F8-4719-B425-BD98BC1A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48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B1F11-41B4-45C8-B4B8-F28322AF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3D0A9-C393-4012-91C0-83879967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257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00359-B2E2-4329-B188-5FB64C7C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3172-E98C-48BB-8078-224DF21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7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ECD90-AA39-4AE9-A54F-84DF521F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72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26CA1-7BE6-4A7E-98AC-51A3CA6D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276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A4975-6741-4D57-B7F2-14EC6215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781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6B11B-4F5B-41BF-9C3B-F1B979A0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28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72A7E-C35D-4C19-A02F-93AD2A06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33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08F35-CF8D-499E-BE90-16D3F1A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438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C1AC6-5CE3-4D7D-8E71-CC810D64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43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E382E-75D9-4105-9457-6711CF3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479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BD647-AF92-43BC-8437-BA5F7FF0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8BA47-910B-44B7-B02C-BF364D1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57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75504-CD1C-4170-9090-B02884D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62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79E40-F58D-4E39-AD47-5EFCD292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73E50-3924-4530-8985-78B1D6CB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720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2B474-40FC-4AA4-816D-9938F72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76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1611B-BB3E-4249-A321-5A2F2A0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81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CBA4A-16C0-49CC-9A6B-5282444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6486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F0948-03BB-4E80-8C09-9150F478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4712A-2541-4138-88CD-B964A3C9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38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4E9ED-E18F-4127-A3AD-404F2BB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43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503809-C1E2-4A39-826E-6567B9B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647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968A4F-7DDA-41A7-BF26-5CD2340C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980573-F6DD-4FCD-BC71-44540E32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574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2CD77-20FC-4020-BAD8-A3C0B3F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89B305-757D-4721-AD76-97DFC65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6671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41F62-F19F-496A-8CD0-80D9F68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DA40B5-8786-4440-A5E9-A81F0909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A8366D-13EE-46AF-82E0-E8A936E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9CF2C-B624-46F5-8835-EC7D0B90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6864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84EB5F-D1CC-4AFE-B972-89E967A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912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88224B-6321-4B88-B049-9683A3C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960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CA4BF6-081A-4613-AA0D-D587DDB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458F6-7D93-4415-A872-85A9D77A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77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43C818-6960-48E1-B804-68E02E68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164B2C-3C4A-4414-9D2C-D34E5E23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573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AB5DC4-989A-49DF-A2B7-63AC63B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24C13F-0797-46D1-921A-33FB9DD2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670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BBFC0-777F-400F-B2DB-40BEB66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D99AED-2B83-4665-9B46-E126842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76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F7FD76-2E25-4FD0-9B2A-F0849E6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81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A0A0D4-2CD5-412E-95BA-9F1AB467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8863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8A4EA2-37EE-4326-87A6-B653B882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911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DF0983-7792-43AB-B56B-605B8F9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58959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BCC3E1-47B2-4A37-9F5B-C2A7BF0E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661DBF-1896-492B-A948-6D731AA8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762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D592D7-6E1A-4EC0-B3B9-0BC47CD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245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1AEE58-1855-46EA-B7E5-398AA0FB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0572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85438A-9CFF-4570-BC7F-F5E5614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621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FCE120-98EE-424C-A64A-7311E43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669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24632F-7F1E-4375-8F53-C2604983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76C534-1E2E-4F8A-9655-74A8BA4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7657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FE9C1F-B20C-4EA7-A260-1DBB1B14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D62752-1D87-4571-9E12-8F54AFD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AD4F5C-846A-4641-A78F-3048CE0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91050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082174-4A64-466A-BA0D-4182CD5D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958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B17F76-8895-4677-940F-414860C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600700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E9C3E6-5468-408B-A380-AC91329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1055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61623E-DBD4-4FAC-8A9E-6FFB9280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10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46CCFB-E77D-4AD3-B020-6B5D40F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E98DA1-253B-49CD-8517-4F8AB679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7301AD-4766-4995-8FA0-E5F6211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66825"/>
            <a:ext cx="14288" cy="14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04DFD1-DD47-4A01-9CB5-FAF067C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3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0932B3-E356-4D90-909F-5DEB12B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2BFE02-D770-4581-B2A9-E18CB365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799E2B-C4C2-4C0A-AA7E-2854CAA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477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Read the solar system from inside out.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614F72-6E79-4C39-B0EF-2478EB3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A good map is not a line of planets. It is a set of zones, each with a different kind of evidence.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E3C9D3-4220-4C04-85F5-D6DE5AD7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AAC819-E91E-45EA-83D0-03DFC722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081118-2A7F-4F21-BB61-2076141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Star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EF147D-1EDE-4A9F-B69F-4B2B2A8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energy + gravity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41AA091-A281-414F-8C57-3FDD0F6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477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086E6B-E03D-4F46-9205-ED6DB917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909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D9F441-60C3-4383-A07A-D7577799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Rocky worlds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BAA9EE-BEF8-489D-928B-6A6DBF97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solid surfaces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EA865D-A629-4602-B259-C97E2569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2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F86FC79-208B-4ED1-9F92-4B626BB6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909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C53B80-C429-4E10-B5AB-2A10EF49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Belt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8F2DE57-C18A-4AA7-88D6-3C68807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648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failed planet zone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49AF55-D69B-4CE1-9153-149DC828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2E86F61-E2A8-422A-B6A2-393B8DAB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140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611BA3-85E7-46C2-8E38-5F3F4D1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Giants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772DE7-3C5B-4E34-917C-554859D6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moons + rings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9450CE-C63E-402A-83DC-74BFBB2F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861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9C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C087A4-BD0B-4316-9096-29C4E80B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Icy frontier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94ADAF-C7D8-422A-8E8F-6103EAE2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48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AB3C7"/>
                </a:solidFill>
                <a:latin typeface="Aptos"/>
                <a:ea typeface="Aptos"/>
                <a:cs typeface="Aptos"/>
              </a:rPr>
              <a:t>comet reservoirs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B51763-B56F-436B-ACC3-1014C5A2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89535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B"/>
          </a:solidFill>
          <a:ln xmlns:a="http://schemas.openxmlformats.org/drawingml/2006/main" w="9525">
            <a:solidFill>
              <a:srgbClr val="2D3A5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A55DBAB-B0C3-4D2A-B5EF-FDBBFE71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162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SOURCE TRAIL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87421C-F172-4E50-B79C-C2509A7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668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7F1E3"/>
                </a:solidFill>
                <a:latin typeface="Aptos"/>
                <a:ea typeface="Aptos"/>
                <a:cs typeface="Aptos"/>
              </a:rPr>
              <a:t>NASA About the Planets</a:t>
            </a:r>
          </a:p>
          <a:p xmlns:a="http://schemas.openxmlformats.org/drawingml/2006/main">
            <a:pPr algn="l">
              <a:defRPr sz="863" b="0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7F1E3"/>
                </a:solidFill>
                <a:latin typeface="Aptos"/>
                <a:ea typeface="Aptos"/>
                <a:cs typeface="Aptos"/>
              </a:rPr>
              <a:t>NASA Solar System Facts</a:t>
            </a:r>
          </a:p>
          <a:p xmlns:a="http://schemas.openxmlformats.org/drawingml/2006/main">
            <a:pPr algn="l">
              <a:defRPr sz="863" b="0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7F1E3"/>
                </a:solidFill>
                <a:latin typeface="Aptos"/>
                <a:ea typeface="Aptos"/>
                <a:cs typeface="Aptos"/>
              </a:rPr>
              <a:t>NASA Sun Facts</a:t>
            </a:r>
          </a:p>
          <a:p xmlns:a="http://schemas.openxmlformats.org/drawingml/2006/main">
            <a:pPr algn="l">
              <a:defRPr sz="863" b="0">
                <a:solidFill>
                  <a:srgbClr val="F7F1E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7F1E3"/>
                </a:solidFill>
                <a:latin typeface="Aptos"/>
                <a:ea typeface="Aptos"/>
                <a:cs typeface="Aptos"/>
              </a:rPr>
              <a:t>NASA Kuiper Belt + Oort Cloud Facts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754E90-781C-4E0A-9DB0-EF5A9C0F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340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00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B000"/>
                </a:solidFill>
                <a:latin typeface="Aptos Display"/>
                <a:ea typeface="Aptos Display"/>
                <a:cs typeface="Aptos Display"/>
              </a:rPr>
              <a:t>Takeaway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ABF7C9-4E7C-4F91-B709-034761AF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5305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7F1E3"/>
                </a:solidFill>
                <a:latin typeface="Aptos Display"/>
                <a:ea typeface="Aptos Display"/>
                <a:cs typeface="Aptos Display"/>
              </a:rPr>
              <a:t>The solar system is simple enough to tour, but too large to flatten. Keep the zones in your head and the scale will start to make sense.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43FEF2-81DA-427E-913F-CBCB3316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7C4F5E-9040-4E3F-A5BD-7C02B09A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F7A9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F7A91"/>
                </a:solidFill>
                <a:latin typeface="Aptos"/>
                <a:ea typeface="Aptos"/>
                <a:cs typeface="Aptos"/>
              </a:rPr>
              <a:t>Sources: NASA Science pages listed in source notes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3DC211-BB5A-4A0B-BDF0-E9297955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AB3C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6964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2026-05-19T10:00:16.3220000Z</dcterms:created>
  <dcterms:modified xsi:type="dcterms:W3CDTF">2026-05-19T10:00:16.3220000Z</dcterms:modified>
</coreProperties>
</file>